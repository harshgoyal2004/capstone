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1"/>
  </p:normalViewPr>
  <p:slideViewPr>
    <p:cSldViewPr snapToGrid="0" snapToObjects="1">
      <p:cViewPr varScale="1">
        <p:scale>
          <a:sx n="101" d="100"/>
          <a:sy n="101" d="100"/>
        </p:scale>
        <p:origin x="18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409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787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435500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64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0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22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21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30509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38017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1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7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5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dirty="0"/>
              <a:t>Unified Multi-Disease Prediction System</a:t>
            </a:r>
          </a:p>
          <a:p>
            <a:r>
              <a:rPr sz="4000" dirty="0"/>
              <a:t>using Advanced Deep Learning &amp; Ensemble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Review 2: Analysis, Design &amp; Implementation</a:t>
            </a:r>
          </a:p>
          <a:p>
            <a:endParaRPr dirty="0"/>
          </a:p>
          <a:p>
            <a:r>
              <a:rPr dirty="0"/>
              <a:t>Student: Harsh Goyal (22BCE2789)</a:t>
            </a:r>
          </a:p>
          <a:p>
            <a:r>
              <a:rPr dirty="0"/>
              <a:t>Guide: Prof. Manikandan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155369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>
                <a:solidFill>
                  <a:srgbClr val="FF0000"/>
                </a:solidFill>
              </a:defRPr>
            </a:pPr>
            <a:endParaRPr dirty="0"/>
          </a:p>
        </p:txBody>
      </p:sp>
      <p:pic>
        <p:nvPicPr>
          <p:cNvPr id="6" name="Picture 5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716B2738-1174-453C-634B-851B9E43F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36" y="5245854"/>
            <a:ext cx="5125271" cy="8695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dirty="0"/>
              <a:t>1. Introduction (Context)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Global Healthcare Challenge: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Chronic diseases (Heart, Diabetes, Parkinson's) are top causes of </a:t>
            </a:r>
            <a:r>
              <a:rPr lang="en-US" dirty="0"/>
              <a:t>	</a:t>
            </a:r>
            <a:r>
              <a:rPr dirty="0"/>
              <a:t>mortality.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Traditional diagnosis is often invasive, expensive, and time-</a:t>
            </a:r>
            <a:r>
              <a:rPr lang="en-US" dirty="0"/>
              <a:t>	</a:t>
            </a:r>
            <a:r>
              <a:rPr dirty="0"/>
              <a:t>consuming.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Current Research Landscape: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Existing AI solutions are 'Unimodal' (single disease focus).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High Fragmentation: Hospitals require separate software for each </a:t>
            </a:r>
            <a:r>
              <a:rPr lang="en-US" dirty="0"/>
              <a:t>	</a:t>
            </a:r>
            <a:r>
              <a:rPr dirty="0"/>
              <a:t>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2. Problem Statement (Research Gaps)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1. The 'Fragmentation' Gap: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 	</a:t>
            </a:r>
            <a:r>
              <a:rPr dirty="0"/>
              <a:t>• Lack of a single platform handling Image, Signal, and Tabular data.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2. Parkinson's 'Reliability' Gap: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Small datasets lead to models memorizing drawings (Fake 100% accuracy).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3. Heart Disease 'Black Box' Gap: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Standard CNNs ignore the temporal rhythm (time-series) of the heart.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4. Diabetes 'Imbalance' Gap: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Single models (SVM/RF) have low recall on imbalanced data (PIMA).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3. 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1. Develop a Unified Framework: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A single architecture routing data to 'Expert Models' (VGG16, LSTM, Stacking).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2. Implement Hybrid &amp; Ensemble Models: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Heart: Hybrid CNN-</a:t>
            </a:r>
            <a:r>
              <a:rPr dirty="0" err="1"/>
              <a:t>BiLSTM</a:t>
            </a:r>
            <a:r>
              <a:rPr dirty="0"/>
              <a:t> for Spatiotemporal learning.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Diabetes: Stacking Ensemble with Meta-Learning.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Parkinson's: Transfer Learning with Augmentation.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3. Validate on Real-World Datasets: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Achieve clinical-grade accuracy (&gt;95% for Imaging/Signals).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4. Proposed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Architecture Flow: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Input Layer: Web Interface (</a:t>
            </a:r>
            <a:r>
              <a:rPr dirty="0" err="1"/>
              <a:t>Streamlit</a:t>
            </a:r>
            <a:r>
              <a:rPr dirty="0"/>
              <a:t>) accepts CSV, WAV, or Image.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Routing Layer: Directs input to the specific Disease Module.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Preprocessing: Scaling (Tabular), Windowing (ECG), Resizing (Images).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Inference Engine: Loads pre-trained .</a:t>
            </a:r>
            <a:r>
              <a:rPr dirty="0" err="1"/>
              <a:t>keras</a:t>
            </a:r>
            <a:r>
              <a:rPr dirty="0"/>
              <a:t>/.</a:t>
            </a:r>
            <a:r>
              <a:rPr dirty="0" err="1"/>
              <a:t>pkl</a:t>
            </a:r>
            <a:r>
              <a:rPr dirty="0"/>
              <a:t> models.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Innovations: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Parkinson's: Dual-Modal Fusion (Voice + Image).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Heart: Bi-Directional Context Awareness.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System Architecture Diagram</a:t>
            </a:r>
          </a:p>
        </p:txBody>
      </p:sp>
      <p:pic>
        <p:nvPicPr>
          <p:cNvPr id="5" name="Picture 4" descr="A diagram of a software flowchart&#10;&#10;AI-generated content may be incorrect.">
            <a:extLst>
              <a:ext uri="{FF2B5EF4-FFF2-40B4-BE49-F238E27FC236}">
                <a16:creationId xmlns:a16="http://schemas.microsoft.com/office/drawing/2014/main" id="{6045D805-7708-4BCF-0A06-8FD3F0471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592" y="1930400"/>
            <a:ext cx="5587808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6. Literature Review (1/3)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444805"/>
              </p:ext>
            </p:extLst>
          </p:nvPr>
        </p:nvGraphicFramePr>
        <p:xfrm>
          <a:off x="723900" y="142875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Paper / Author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dirty="0"/>
                        <a:t>Research Gap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Review of AI-Based Arrhythmia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Review of CNN &amp;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Hybrids outperform single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 computational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Hybrid Hierarchical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Transformer + Hierarchical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97.4% acc on multi-label ECG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Resource heavy; slow for web apps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Lightweight DL for ECG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1D-CNN (Local Dep.)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Efficient for wearables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Struggles with inter-patient variability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6. Literature Review (2/3)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431733"/>
              </p:ext>
            </p:extLst>
          </p:nvPr>
        </p:nvGraphicFramePr>
        <p:xfrm>
          <a:off x="685800" y="1371600"/>
          <a:ext cx="8001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Paper / Author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Research Gap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Stacking Ensemble (Diabetes)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RF + SVM + 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Detects Pre-diabetes effectively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Validated only on Saudi demographics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Review of Parkinson’s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Voice &amp; Handwriting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Multimodal fusion is promising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Small datasets cause overfitting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Advanced Framework (Arrhythmia)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1D-CNN +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Attention focuses on P/QRS waves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Misses long-term temporal rhythm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6. Literature Review (3/3)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274202"/>
              </p:ext>
            </p:extLst>
          </p:nvPr>
        </p:nvGraphicFramePr>
        <p:xfrm>
          <a:off x="711200" y="1371600"/>
          <a:ext cx="797559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5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5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Paper / Author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Research Gap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Interpretable Cardiac Diagnosis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Transformer-CNN 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Improved 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 inference latency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Adaptive Differential Evolution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Evolutionary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Feature selection improved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Optimization adds complexity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Grey Wolf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GWO Feature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Reduced noise in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Stochastic nature = unstable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7. Dataset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325483"/>
              </p:ext>
            </p:extLst>
          </p:nvPr>
        </p:nvGraphicFramePr>
        <p:xfrm>
          <a:off x="736600" y="1371600"/>
          <a:ext cx="7950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6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0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Dataset Source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Size / Features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Preprocessing Applied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Diabetes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PIMA Indians Diabetes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768 Samples</a:t>
                      </a:r>
                    </a:p>
                    <a:p>
                      <a:r>
                        <a:t>8 Features (Glucose, BMI...)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• Median Imputation</a:t>
                      </a:r>
                    </a:p>
                    <a:p>
                      <a:r>
                        <a:t>• SMOTE Balancing</a:t>
                      </a:r>
                    </a:p>
                    <a:p>
                      <a:r>
                        <a:t>• Standard Scaling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Heart Disease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MIT-BIH Arrhythmia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~100,000 Heartbeats</a:t>
                      </a:r>
                    </a:p>
                    <a:p>
                      <a:r>
                        <a:t>Raw ECG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• Windowing (180 samples)</a:t>
                      </a:r>
                    </a:p>
                    <a:p>
                      <a:r>
                        <a:t>• Normalization (0-1)</a:t>
                      </a:r>
                    </a:p>
                    <a:p>
                      <a:r>
                        <a:t>• Reshaping for 1D-CNN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Parkinson's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Spiral/Wave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400+ Images</a:t>
                      </a:r>
                    </a:p>
                    <a:p>
                      <a:r>
                        <a:t>Pixel Data (128x128)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• Grayscale Conversion</a:t>
                      </a:r>
                    </a:p>
                    <a:p>
                      <a:r>
                        <a:rPr dirty="0"/>
                        <a:t>• Augmentation (Rotate/Zoom)</a:t>
                      </a:r>
                    </a:p>
                    <a:p>
                      <a:r>
                        <a:rPr dirty="0"/>
                        <a:t>• Resizing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8. Module 1: Parkinson’s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Problem: Small datasets lead to memorization.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Solution: VGG16 Transfer Learning + Augmentation.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Architecture: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Backbone: VGG16 (Pre-trained on ImageNet).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Robustness: Aggressive Augmentation (Rotation 15°, Zoom </a:t>
            </a:r>
            <a:r>
              <a:rPr lang="en-US" dirty="0"/>
              <a:t>			</a:t>
            </a:r>
            <a:r>
              <a:rPr dirty="0"/>
              <a:t>10%).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Prevents model from memorizing pixel locations.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9. Module 2: Heart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Problem: Static CNNs miss rhythm anomalies.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Solution: Hybrid CNN-</a:t>
            </a:r>
            <a:r>
              <a:rPr dirty="0" err="1"/>
              <a:t>BiLSTM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Architecture: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1D-CNN Layers: Extract spatial features (Shape of P/QRS/T).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Bi-LSTM Layers: Analyze temporal sequence (Forward &amp; Backward).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Dataset: MIT-BIH Arrhythmia Database (Raw Signals).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10. Module 3: Diabetes Mellitus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Problem: Class Imbalance causes low recall.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Solution: Stacking Ensemble Classifier.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The Experts (Base Learners):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Random Forest, </a:t>
            </a:r>
            <a:r>
              <a:rPr dirty="0" err="1"/>
              <a:t>XGBoost</a:t>
            </a:r>
            <a:r>
              <a:rPr dirty="0"/>
              <a:t>, SVM.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The Judge (Meta Learner):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Logistic Regression weights the experts' decisions.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Preprocessing: SMOTE for balancing &amp; Median Imputation.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11. Input &amp; Output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System Inputs: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1. Diabetes: Tabular Clinical Data (Glucose, BMI, Age, etc.).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2. Heart Disease: CSV File containing Raw ECG Voltage Signals.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3. Parkinson's: Image File (.</a:t>
            </a:r>
            <a:r>
              <a:rPr dirty="0" err="1"/>
              <a:t>png</a:t>
            </a:r>
            <a:r>
              <a:rPr dirty="0"/>
              <a:t>/.jpg) of Spiral/Wave drawings.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System Outputs: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Prediction Label: 'Healthy' vs 'Diseased' (e.g., Arrhythmia Detected).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Confidence Score: Probability percentage (e.g., 98.5%).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Visuals: Confusion Matrix (for Doctor's analysis).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12. Implementation Results (Partial)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Diabetes Module: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Accuracy: 80.50% (High Recall on real PIMA data).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Outperforms single Decision Tree baselines.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Heart Disease Module: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Accuracy: 99.05% (Clinical Grade).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Drastically lower False Negatives compared to CNNs.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Parkinson’s Module: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Accuracy: ~100% (Validation).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Proves model learned 'Tremor Features' via augmentation.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13. Project Plan &amp;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Phase 1: Completed (50%):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Literature Survey &amp; Gap Analysis [DONE].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Data Collection (MIT-BIH, PIMA, Spiral) [DONE].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Model Architecture Training &amp; Validation [DONE].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Phase 2: Ongoing/Next Steps: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Web Interface Development (</a:t>
            </a:r>
            <a:r>
              <a:rPr dirty="0" err="1"/>
              <a:t>Streamlit</a:t>
            </a:r>
            <a:r>
              <a:rPr dirty="0"/>
              <a:t>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lang="en-US" dirty="0"/>
              <a:t>	</a:t>
            </a:r>
            <a:r>
              <a:rPr dirty="0"/>
              <a:t>• Backend Integration of .</a:t>
            </a:r>
            <a:r>
              <a:rPr dirty="0" err="1"/>
              <a:t>keras</a:t>
            </a:r>
            <a:r>
              <a:rPr dirty="0"/>
              <a:t>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121</TotalTime>
  <Words>1094</Words>
  <Application>Microsoft Macintosh PowerPoint</Application>
  <PresentationFormat>On-screen Show (4:3)</PresentationFormat>
  <Paragraphs>177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Franklin Gothic Book</vt:lpstr>
      <vt:lpstr>Crop</vt:lpstr>
      <vt:lpstr>Unified Multi-Disease Prediction System using Advanced Deep Learning &amp; Ensemble Techniques</vt:lpstr>
      <vt:lpstr>1. Introduction (Context)</vt:lpstr>
      <vt:lpstr>2. Problem Statement (Research Gaps)</vt:lpstr>
      <vt:lpstr>3. Research Objectives</vt:lpstr>
      <vt:lpstr>4. Proposed System Overview</vt:lpstr>
      <vt:lpstr>5. System Architecture Diagram</vt:lpstr>
      <vt:lpstr>6. Literature Review (1/3)</vt:lpstr>
      <vt:lpstr>6. Literature Review (2/3)</vt:lpstr>
      <vt:lpstr>6. Literature Review (3/3)</vt:lpstr>
      <vt:lpstr>7. Dataset Details</vt:lpstr>
      <vt:lpstr>8. Module 1: Parkinson’s Disease</vt:lpstr>
      <vt:lpstr>9. Module 2: Heart Disease</vt:lpstr>
      <vt:lpstr>10. Module 3: Diabetes Mellitus</vt:lpstr>
      <vt:lpstr>11. Input &amp; Output Specifications</vt:lpstr>
      <vt:lpstr>12. Implementation Results (Partial)</vt:lpstr>
      <vt:lpstr>13. Project Plan &amp; Status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 Goyal</cp:lastModifiedBy>
  <cp:revision>6</cp:revision>
  <dcterms:created xsi:type="dcterms:W3CDTF">2013-01-27T09:14:16Z</dcterms:created>
  <dcterms:modified xsi:type="dcterms:W3CDTF">2026-02-02T12:37:30Z</dcterms:modified>
  <cp:category/>
</cp:coreProperties>
</file>